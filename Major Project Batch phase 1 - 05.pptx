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72" r:id="rId4"/>
    <p:sldId id="273" r:id="rId5"/>
    <p:sldId id="276" r:id="rId6"/>
    <p:sldId id="275" r:id="rId7"/>
    <p:sldId id="278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4" r:id="rId19"/>
    <p:sldId id="268" r:id="rId20"/>
    <p:sldId id="269" r:id="rId21"/>
    <p:sldId id="270" r:id="rId22"/>
    <p:sldId id="280" r:id="rId23"/>
  </p:sldIdLst>
  <p:sldSz cx="9144000" cy="5143500" type="screen16x9"/>
  <p:notesSz cx="6858000" cy="9144000"/>
  <p:embeddedFontLst>
    <p:embeddedFont>
      <p:font typeface="Arimo" panose="020B0604020202020204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71E46A-CC12-4D00-8566-164DEADE7085}">
  <a:tblStyle styleId="{F471E46A-CC12-4D00-8566-164DEADE70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382fd6d56e024b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a382fd6d56e024b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382fd6d56e024b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a382fd6d56e024b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21d15d331e8e1b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21d15d331e8e1b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21d15d331e8e1b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821d15d331e8e1b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21d15d331e8e1b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21d15d331e8e1b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21d15d331e8e1b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21d15d331e8e1b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382fd6d56e024b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382fd6d56e024b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382fd6d56e024b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382fd6d56e024b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821d15d331e8e1b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821d15d331e8e1b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382fd6d56e024b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a382fd6d56e024b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382fd6d56e024b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382fd6d56e024b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a382fd6d56e024b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a382fd6d56e024b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21d15d331e8e1b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821d15d331e8e1b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a382fd6d56e024b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a382fd6d56e024b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1134/beed:+bangalore+eeg+epilepsy+datase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cs.qmul.ac.uk/mmv/datasets/dea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ata.mendeley.com/datasets/58rydc6vwc/1" TargetMode="External"/><Relationship Id="rId5" Type="http://schemas.openxmlformats.org/officeDocument/2006/relationships/hyperlink" Target="https://doi.org/10.3390/app12147251" TargetMode="External"/><Relationship Id="rId4" Type="http://schemas.openxmlformats.org/officeDocument/2006/relationships/hyperlink" Target="https://www.mdpi.com/2306-5729/10/9/144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460950" y="491383"/>
            <a:ext cx="8222100" cy="151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it-IT" sz="4400" dirty="0"/>
              <a:t>Neuro-AI: Hybrid Model for Cognitive Enhancements </a:t>
            </a:r>
            <a:endParaRPr sz="4400" dirty="0"/>
          </a:p>
        </p:txBody>
      </p:sp>
      <p:sp>
        <p:nvSpPr>
          <p:cNvPr id="69" name="Google Shape;69;p13"/>
          <p:cNvSpPr txBox="1"/>
          <p:nvPr/>
        </p:nvSpPr>
        <p:spPr>
          <a:xfrm>
            <a:off x="5683196" y="2483682"/>
            <a:ext cx="1964100" cy="243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Authors 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Dr. N. Sunanda</a:t>
            </a:r>
            <a:endParaRPr sz="18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E.Jafrash</a:t>
            </a:r>
            <a:endParaRPr sz="18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G.Pranay</a:t>
            </a:r>
            <a:endParaRPr sz="18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K.Sathwik</a:t>
            </a:r>
            <a:endParaRPr sz="18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M.Goutham</a:t>
            </a:r>
            <a:endParaRPr sz="18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460950" y="1997226"/>
            <a:ext cx="8222100" cy="26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en-US" dirty="0">
                <a:solidFill>
                  <a:srgbClr val="3F3F3F"/>
                </a:solidFill>
              </a:rPr>
              <a:t>Human emotions such as stress, drowsiness, calmness, and neutral state can strongly influence mental health, productivity, and decision-making.</a:t>
            </a: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en-US" dirty="0">
                <a:solidFill>
                  <a:srgbClr val="3F3F3F"/>
                </a:solidFill>
              </a:rPr>
              <a:t>Manual interpretation of EEG signals to understand emotional states is complex, time-consuming, and prone to human error</a:t>
            </a:r>
            <a:endParaRPr dirty="0">
              <a:solidFill>
                <a:srgbClr val="3F3F3F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en-US" dirty="0">
                <a:solidFill>
                  <a:srgbClr val="3F3F3F"/>
                </a:solidFill>
              </a:rPr>
              <a:t>Many existing computational systems struggle with low accuracy, poor generalization, and inability to combine EEG data with real-time user feedback.</a:t>
            </a:r>
            <a:r>
              <a:rPr lang="en" dirty="0">
                <a:solidFill>
                  <a:srgbClr val="3F3F3F"/>
                </a:solidFill>
              </a:rPr>
              <a:t>.</a:t>
            </a: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en-US" dirty="0">
                <a:solidFill>
                  <a:srgbClr val="3F3F3F"/>
                </a:solidFill>
              </a:rPr>
              <a:t>Integrating email and Slack notifications further helps in real-time monitoring, enabling timely interventions for users and healthcare professionals.</a:t>
            </a:r>
            <a:endParaRPr dirty="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B5113-C5E2-63F4-B341-D14F8580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3" y="0"/>
            <a:ext cx="9321820" cy="504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9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08B1-8199-DB68-96CF-3D7458C8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DD2087-22C3-5538-8C8E-0EBACA2F3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9" y="169068"/>
            <a:ext cx="8821381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9A803-113A-D902-2B3D-FE4CEE82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3A4D6-4F86-442A-757A-3A7FA81F6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25" y="182960"/>
            <a:ext cx="6465910" cy="15146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D87169-D627-5349-2029-F191C3A3F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25" y="1868271"/>
            <a:ext cx="6465910" cy="29142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6487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02A0-68C0-F4DC-3820-0B99AE54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D393F-97AC-C21B-EC73-77FDEB9AA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91" y="150891"/>
            <a:ext cx="5236420" cy="48417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132807-1109-ECFB-340B-2BE217E5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233" y="1338090"/>
            <a:ext cx="3308944" cy="2467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824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CDA9EA-24E0-044E-C23A-CC4F9F57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8" y="221126"/>
            <a:ext cx="8768543" cy="47012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316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</a:t>
            </a: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ML approaches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(SVM, KNN)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been widely used for EEG-based emotion recognition, but they rely heavily on handcrafted statistical features.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Deep-learning-based models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CNNs and Random Forest Algorithm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shown strong performance by automatically extracting meaningful EEG spatial patterns for emotion classification.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Random Forest Algorithm suited well for our dataset which increased the accuracy a lot.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CNN–LSTM architectures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been proposed in recent research for </a:t>
            </a:r>
            <a:r>
              <a:rPr lang="en-US" sz="14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spatio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-temporal EEG modeling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improving classification performance compared to single-model approaches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 </a:t>
            </a:r>
            <a:endParaRPr/>
          </a:p>
        </p:txBody>
      </p:sp>
      <p:graphicFrame>
        <p:nvGraphicFramePr>
          <p:cNvPr id="89" name="Google Shape;89;p16"/>
          <p:cNvGraphicFramePr/>
          <p:nvPr>
            <p:extLst>
              <p:ext uri="{D42A27DB-BD31-4B8C-83A1-F6EECF244321}">
                <p14:modId xmlns:p14="http://schemas.microsoft.com/office/powerpoint/2010/main" val="2460411166"/>
              </p:ext>
            </p:extLst>
          </p:nvPr>
        </p:nvGraphicFramePr>
        <p:xfrm>
          <a:off x="312177" y="797945"/>
          <a:ext cx="8398725" cy="4381320"/>
        </p:xfrm>
        <a:graphic>
          <a:graphicData uri="http://schemas.openxmlformats.org/drawingml/2006/table">
            <a:tbl>
              <a:tblPr>
                <a:noFill/>
                <a:tableStyleId>{F471E46A-CC12-4D00-8566-164DEADE7085}</a:tableStyleId>
              </a:tblPr>
              <a:tblGrid>
                <a:gridCol w="5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9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9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9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30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/>
                        <a:t>S no.</a:t>
                      </a:r>
                      <a:endParaRPr sz="1200" b="1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/>
                        <a:t>Title</a:t>
                      </a:r>
                      <a:endParaRPr sz="1200" b="1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/>
                        <a:t>Publisher</a:t>
                      </a:r>
                      <a:endParaRPr sz="1200" b="1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/>
                        <a:t>Dataset</a:t>
                      </a:r>
                      <a:endParaRPr sz="1200" b="1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/>
                        <a:t>Methodology Summary</a:t>
                      </a:r>
                      <a:endParaRPr sz="1200" b="1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/>
                        <a:t>Limitations</a:t>
                      </a:r>
                      <a:endParaRPr sz="1200" b="1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/>
                        <a:t>Future Scope</a:t>
                      </a:r>
                      <a:endParaRPr sz="1200" b="1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3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 u="none" strike="noStrike" cap="none"/>
                        <a:t>1. 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Emotion Recognition from EEG Signals: A Systematic Review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IEEE /Springer (2024)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DEAP, SEED, DREAMER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Systematic review comparing ML/DL techniques for emotional state.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Variation in experimental settings; subject specificity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Need for generalized models; real-world validation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5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/>
                        <a:t>2.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000000"/>
                          </a:solidFill>
                        </a:rPr>
                        <a:t>Sz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CORE benchmark report from seizure detection challenge </a:t>
                      </a:r>
                      <a:endParaRPr lang="en-US" sz="12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arXiv (2025)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Challenge datasets (EMU long-term scalp EEG)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Benchmarking algorithms in a standardized challenge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Preprint; ongoing evaluations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Standardized leaderboards; challenge extensions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1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3. </a:t>
                      </a:r>
                      <a:endParaRPr sz="12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Automatic Detection and Prediction of Epileptic EEG signals based on DL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Recent DL paper (2025)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Public EEG datasets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Deep learning models for both detection and prediction; end-to-end pipeline</a:t>
                      </a:r>
                      <a:endParaRPr sz="1200"/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Newer paper; needs replication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000000"/>
                          </a:solidFill>
                        </a:rPr>
                        <a:t>Benchmarking and real-time tests</a:t>
                      </a:r>
                      <a:endParaRPr sz="12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 </a:t>
            </a:r>
            <a:endParaRPr/>
          </a:p>
        </p:txBody>
      </p:sp>
      <p:graphicFrame>
        <p:nvGraphicFramePr>
          <p:cNvPr id="95" name="Google Shape;95;p17"/>
          <p:cNvGraphicFramePr/>
          <p:nvPr/>
        </p:nvGraphicFramePr>
        <p:xfrm>
          <a:off x="303970" y="805450"/>
          <a:ext cx="8411425" cy="4059820"/>
        </p:xfrm>
        <a:graphic>
          <a:graphicData uri="http://schemas.openxmlformats.org/drawingml/2006/table">
            <a:tbl>
              <a:tblPr>
                <a:noFill/>
                <a:tableStyleId>{F471E46A-CC12-4D00-8566-164DEADE7085}</a:tableStyleId>
              </a:tblPr>
              <a:tblGrid>
                <a:gridCol w="59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35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 no.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Title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Publisher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Dataset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Methodology Summary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Limitations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Future Scope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1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/>
                        <a:t>4.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Attention-based deep convolutional neural network for classification of seizures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Epilepsy &amp; Behavior (2024)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TUSZ (Temple University)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Attention-CNN leveraging channel annotations for interpretability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May require channel metadata; clinical validation needed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Interpretability studies; user interfaces for clinicians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1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A hybrid CNN-Bi-LSTM model with feature fusion for accurate seizure detection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Peer-reviewed (2024)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Multiple public EEG datasets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Feature fusion followed by CNN and Bi-LSTM for spatio-temporal learning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Complex architecture; needs ablation studies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Simplify architecture; explainability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7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Real-time epilepsy seizure detection using STFT and GoogleNet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Heliyon/Elsevier (2024)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Public EEG datasets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" sz="1200"/>
                        <a:t>STFT to image-like input + GoogleNet CNN for real-time detection</a:t>
                      </a:r>
                      <a:endParaRPr sz="1200"/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Real-time claims need embedded validation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Edge-optimized models; latency benchmarking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</a:t>
            </a:r>
            <a:endParaRPr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308077" y="817100"/>
          <a:ext cx="8401400" cy="4126560"/>
        </p:xfrm>
        <a:graphic>
          <a:graphicData uri="http://schemas.openxmlformats.org/drawingml/2006/table">
            <a:tbl>
              <a:tblPr>
                <a:noFill/>
                <a:tableStyleId>{F471E46A-CC12-4D00-8566-164DEADE7085}</a:tableStyleId>
              </a:tblPr>
              <a:tblGrid>
                <a:gridCol w="59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2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6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 no.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Title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Publisher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Dataset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Methodology Summary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Limitations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Future Scope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/>
                        <a:t>7.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Epileptic Seizure Detection in EEG Signals Using Machine Learning and Deep Learning Techniques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IEEE Access, Volume 12, IEEE, June 2024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UCI Epileptic Seizure Recognition Dataset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XGBoost, TabNet, Random Forest, and a 1D-CNN.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Single-channel EEG data with binary classification, limiting.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real-time and personalized seizure prediction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Epileptic seizure detection with deep EEG features by convolutional neural networks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Frontiers in Neuroscience (2023)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Bonn/CHB-like datasets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Deep CNN to extract hierarchical features; shallow classifiers on deep features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May need large data; generalization across subjects unclear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Cross-dataset validation; explainability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Detection and Classification of Adult Epilepsy Using Hybrid Deep Learning Approach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Scientific Reports (2023)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CHB dataset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3D-DCAE for feature learning + Bi-LSTM classifier; ten-fold CV</a:t>
                      </a:r>
                      <a:endParaRPr sz="1200"/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" sz="1200"/>
                        <a:t>Evaluated on single dataset; computationally heavy</a:t>
                      </a:r>
                      <a:endParaRPr sz="1200"/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Lighter models; cross-dataset tests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 </a:t>
            </a:r>
            <a:endParaRPr/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334758" y="815350"/>
          <a:ext cx="8361125" cy="4220412"/>
        </p:xfrm>
        <a:graphic>
          <a:graphicData uri="http://schemas.openxmlformats.org/drawingml/2006/table">
            <a:tbl>
              <a:tblPr>
                <a:noFill/>
                <a:tableStyleId>{F471E46A-CC12-4D00-8566-164DEADE7085}</a:tableStyleId>
              </a:tblPr>
              <a:tblGrid>
                <a:gridCol w="58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4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 no.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Title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Publisher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Dataset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Methodology Summary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Limitations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Future Scope</a:t>
                      </a:r>
                      <a:endParaRPr sz="12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200"/>
                        <a:t>10.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EEG datasets for seizure detection and prediction—A review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Review (2022)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Multiple public EEG datasets (review)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Systematic review of public EEG datasets, formats, and usage recommendations</a:t>
                      </a:r>
                      <a:r>
                        <a:rPr lang="en" sz="1200"/>
                        <a:t>.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Survey; no novel method; highlights dataset heterogeneity as limitation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Standardization guidelines; benchmark creation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EEG-based Epileptic Seizure Detection via Machine/Deep Learning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Computational Intelligence and Neuroscience (2022)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Various (challenge datasets)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Survey of ML/DL methods including intracranial datasets (dogs, humans)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Survey-level; non-uniform metrics across studies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Unified benchmarks; clinical translation studies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12.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Automatic seizure detection based on imaged-EEG signals 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Scientific Reports (2021)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CHB/other datasets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" sz="1200"/>
                        <a:t>Convert EEG to images (spectrograms), use CNN for detection</a:t>
                      </a:r>
                      <a:endParaRPr sz="1200"/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Image transform may lose temporal nuance; compute cost</a:t>
                      </a:r>
                      <a:endParaRPr sz="1200"/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00"/>
                          </a:solidFill>
                        </a:rPr>
                        <a:t>Hybrid spatio-temporal methods; lightweight models</a:t>
                      </a:r>
                      <a:endParaRPr sz="12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gaps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3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limited availability of balanced, multi-class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EEG and neuroimaging datasets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making it difficult to train robust AI models for cognitive enhancement tasks.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existing models primarily focus on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cognitive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 detection rather than detailed classification of cognitive types or stage</a:t>
            </a:r>
            <a:endParaRPr lang="en-IN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lack of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lightweight, efficient models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limits the feasibility of real-time clinical or wearable deployment for cognitive enhancement applications.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 strong need for systems that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 high accuracy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minimize false alarms, and offer clear, clinically relevant interpretability for practitioners and users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research does not utilize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dual-task models capable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both detection and classification of cognitive states simultaneously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of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explainable AI (XAI)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medical transparency is insufficient, leading to difficulties in clinical interpretation and trust.</a:t>
            </a:r>
            <a:endParaRPr lang="en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 and Methodology 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189354" y="2330725"/>
            <a:ext cx="3104700" cy="20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lang="en" sz="1200" b="1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Bangalore EEG Epilepsy Dataset (BEED)</a:t>
            </a:r>
            <a:endParaRPr sz="12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EEG channels (Ch1–Ch8) recorded at 256 Hz.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16,000 signal segments from 20 adult subjects (balanced dataset).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20" name="Google Shape;120;p21"/>
          <p:cNvSpPr txBox="1"/>
          <p:nvPr/>
        </p:nvSpPr>
        <p:spPr>
          <a:xfrm>
            <a:off x="3019650" y="2330725"/>
            <a:ext cx="3104700" cy="18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Four classes:</a:t>
            </a:r>
            <a:endParaRPr sz="1200"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 dirty="0"/>
              <a:t>Class 0: Calm</a:t>
            </a:r>
            <a:endParaRPr sz="12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 dirty="0"/>
              <a:t>Class 1: Neutral</a:t>
            </a:r>
            <a:endParaRPr sz="12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 dirty="0"/>
              <a:t>Class 2: Stressed</a:t>
            </a:r>
            <a:endParaRPr sz="12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 dirty="0"/>
              <a:t>Class 3: Drowsy</a:t>
            </a: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5694000" y="2330725"/>
            <a:ext cx="30000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Labels created:</a:t>
            </a:r>
            <a:endParaRPr sz="1200"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 b="1" dirty="0"/>
              <a:t>y_detect</a:t>
            </a:r>
            <a:r>
              <a:rPr lang="en" sz="1200" dirty="0">
                <a:latin typeface="Arimo"/>
                <a:ea typeface="Arimo"/>
                <a:cs typeface="Arimo"/>
                <a:sym typeface="Arimo"/>
              </a:rPr>
              <a:t> → seizure vs non-seizure (binary)</a:t>
            </a:r>
            <a:endParaRPr sz="1200" dirty="0">
              <a:latin typeface="Arimo"/>
              <a:ea typeface="Arimo"/>
              <a:cs typeface="Arimo"/>
              <a:sym typeface="Arim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Arimo"/>
              <a:ea typeface="Arimo"/>
              <a:cs typeface="Arimo"/>
              <a:sym typeface="Arimo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 b="1" dirty="0"/>
              <a:t>y_class</a:t>
            </a:r>
            <a:r>
              <a:rPr lang="en" sz="1200" dirty="0">
                <a:latin typeface="Arimo"/>
                <a:ea typeface="Arimo"/>
                <a:cs typeface="Arimo"/>
                <a:sym typeface="Arimo"/>
              </a:rPr>
              <a:t> → seizure type (4-class)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 and Methodology 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656159" y="1026963"/>
            <a:ext cx="4575900" cy="419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200" b="1" dirty="0"/>
              <a:t>Training Pipeline</a:t>
            </a:r>
            <a:endParaRPr sz="1200" b="1" dirty="0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/>
              <a:t>Data split using stratified sampling:</a:t>
            </a:r>
            <a:endParaRPr sz="12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80% Training</a:t>
            </a:r>
            <a:endParaRPr sz="12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20% Testing</a:t>
            </a:r>
            <a:endParaRPr sz="1200" dirty="0"/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/>
              <a:t>Batch Size = 32, Epochs = 20</a:t>
            </a:r>
          </a:p>
          <a:p>
            <a:pPr marL="1524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" sz="1200" dirty="0"/>
          </a:p>
          <a:p>
            <a:pPr marL="457200" lvl="0" indent="-304800">
              <a:lnSpc>
                <a:spcPct val="115000"/>
              </a:lnSpc>
              <a:buSzPts val="1200"/>
              <a:buChar char="●"/>
            </a:pPr>
            <a:r>
              <a:rPr lang="en-US" sz="1200" b="1" dirty="0"/>
              <a:t>Algorithm Used:</a:t>
            </a:r>
            <a:r>
              <a:rPr lang="en-US" sz="1200" dirty="0"/>
              <a:t> Random Forest Classifier</a:t>
            </a:r>
            <a:endParaRPr sz="12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/>
              <a:t>Preprocessing:StrandardScaler+ LabelEncoder </a:t>
            </a:r>
          </a:p>
          <a:p>
            <a:pPr marL="1524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/>
              <a:t>Evaluation metrics:</a:t>
            </a:r>
            <a:endParaRPr sz="12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Accuracy</a:t>
            </a:r>
            <a:endParaRPr sz="12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Precision, Recall, F1-score</a:t>
            </a:r>
            <a:endParaRPr sz="12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Confusion Matrix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Char char="●"/>
            </a:pPr>
            <a:r>
              <a:rPr lang="en" sz="1200" dirty="0"/>
              <a:t>Training monitored through loss and accuracy curves.</a:t>
            </a:r>
            <a:endParaRPr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58561-BAC1-B494-56AD-076F04E4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050" y="1594556"/>
            <a:ext cx="4575900" cy="21910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Significance </a:t>
            </a:r>
            <a:endParaRPr dirty="0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460950" y="1869938"/>
            <a:ext cx="8222100" cy="288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 emotions via EEG signals</a:t>
            </a: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EEG device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using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synthetic data</a:t>
            </a: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brain signals + user mood text -&gt; better accuracy</a:t>
            </a: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detecting stress,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drowsiness &amp; emotional imbalance</a:t>
            </a: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Sends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alerts to user and Slack alert to doctor / caretaker</a:t>
            </a: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support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students, employees, mental health monitoring</a:t>
            </a: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EEG device + AI therapist bot</a:t>
            </a: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US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progress </a:t>
            </a:r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225752" y="1517389"/>
            <a:ext cx="6716700" cy="34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Completed:</a:t>
            </a:r>
            <a:endParaRPr sz="12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I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Synthetic EEG dataset created</a:t>
            </a:r>
            <a:b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trained using Random Forest</a:t>
            </a:r>
            <a:b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I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Accuracy: 96% achieved</a:t>
            </a:r>
            <a:b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-FR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Confusion Matrix + Classification Report </a:t>
            </a:r>
            <a:r>
              <a:rPr lang="fr-FR" sz="1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b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I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Sentiment Analysis integrated</a:t>
            </a:r>
            <a:b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I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Alert (Gmail) working</a:t>
            </a:r>
            <a:b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 dirty="0"/>
              <a:t>Slack Alert (Doctor Notification) working</a:t>
            </a:r>
            <a:endParaRPr sz="1200" dirty="0"/>
          </a:p>
        </p:txBody>
      </p:sp>
      <p:sp>
        <p:nvSpPr>
          <p:cNvPr id="141" name="Google Shape;141;p24"/>
          <p:cNvSpPr txBox="1"/>
          <p:nvPr/>
        </p:nvSpPr>
        <p:spPr>
          <a:xfrm>
            <a:off x="4803913" y="1739025"/>
            <a:ext cx="3561000" cy="3292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 dirty="0"/>
              <a:t>Remaining:</a:t>
            </a:r>
            <a:endParaRPr sz="1200" b="1" dirty="0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IN" sz="1200" dirty="0"/>
              <a:t>Real EEG device integration</a:t>
            </a:r>
            <a:br>
              <a:rPr lang="en" sz="1200" dirty="0"/>
            </a:br>
            <a:endParaRPr sz="1200" dirty="0"/>
          </a:p>
          <a:p>
            <a:pPr marL="457200" lvl="0" indent="-304800">
              <a:lnSpc>
                <a:spcPct val="115000"/>
              </a:lnSpc>
              <a:buSzPts val="1200"/>
              <a:buChar char="●"/>
            </a:pPr>
            <a:r>
              <a:rPr lang="en-IN" sz="1200" dirty="0"/>
              <a:t>Mobile app version</a:t>
            </a:r>
            <a:br>
              <a:rPr lang="en" sz="1200" dirty="0"/>
            </a:br>
            <a:endParaRPr sz="1200" dirty="0"/>
          </a:p>
          <a:p>
            <a:pPr marL="457200" lvl="0" indent="-304800">
              <a:lnSpc>
                <a:spcPct val="115000"/>
              </a:lnSpc>
              <a:spcAft>
                <a:spcPts val="1200"/>
              </a:spcAft>
              <a:buSzPts val="1200"/>
              <a:buChar char="●"/>
            </a:pPr>
            <a:r>
              <a:rPr lang="en-US" sz="1200" dirty="0"/>
              <a:t>Trend graph for mood tracking</a:t>
            </a:r>
          </a:p>
          <a:p>
            <a:pPr marL="457200" lvl="0" indent="-304800">
              <a:lnSpc>
                <a:spcPct val="115000"/>
              </a:lnSpc>
              <a:spcAft>
                <a:spcPts val="1200"/>
              </a:spcAft>
              <a:buSzPts val="1200"/>
              <a:buChar char="●"/>
            </a:pPr>
            <a:r>
              <a:rPr lang="en-US" sz="1200" dirty="0"/>
              <a:t>CNN / LSTM for stronger accuracy</a:t>
            </a:r>
          </a:p>
          <a:p>
            <a:pPr marL="457200" lvl="0" indent="-304800">
              <a:lnSpc>
                <a:spcPct val="115000"/>
              </a:lnSpc>
              <a:spcAft>
                <a:spcPts val="1200"/>
              </a:spcAft>
              <a:buSzPts val="1200"/>
              <a:buChar char="●"/>
            </a:pPr>
            <a:r>
              <a:rPr lang="en-IN" sz="1200" dirty="0"/>
              <a:t>Explainable AI (SHAP/LIME)</a:t>
            </a:r>
          </a:p>
          <a:p>
            <a:pPr marL="457200" lvl="0" indent="-304800">
              <a:lnSpc>
                <a:spcPct val="115000"/>
              </a:lnSpc>
              <a:spcAft>
                <a:spcPts val="1200"/>
              </a:spcAft>
              <a:buSzPts val="1200"/>
              <a:buChar char="●"/>
            </a:pPr>
            <a:r>
              <a:rPr lang="en-IN" sz="1200" dirty="0"/>
              <a:t>Real-time streaming with IoT</a:t>
            </a:r>
            <a:br>
              <a:rPr lang="en" sz="1200" dirty="0"/>
            </a:br>
            <a:endParaRPr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73922-6CB2-B5EC-35BC-957C2A40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8021C-A4DE-AA1D-2F85-B173BC12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38147"/>
            <a:ext cx="8604569" cy="472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17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 rotWithShape="1">
          <a:blip r:embed="rId3">
            <a:alphaModFix/>
          </a:blip>
          <a:srcRect l="7526" t="40995" r="9036" b="3491"/>
          <a:stretch/>
        </p:blipFill>
        <p:spPr>
          <a:xfrm>
            <a:off x="5250325" y="1848650"/>
            <a:ext cx="3245950" cy="294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8AD935-9D91-0DF1-9574-63ED3CFC2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5" y="1848650"/>
            <a:ext cx="4477375" cy="31213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292800" y="1406700"/>
            <a:ext cx="4028400" cy="256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/>
              <a:t>Confusion Matrix Insights</a:t>
            </a:r>
            <a:endParaRPr b="1" dirty="0"/>
          </a:p>
          <a:p>
            <a:pPr marL="457200" lvl="0" indent="-317500">
              <a:lnSpc>
                <a:spcPct val="115000"/>
              </a:lnSpc>
              <a:spcBef>
                <a:spcPts val="1200"/>
              </a:spcBef>
              <a:buSzPts val="1400"/>
              <a:buChar char="●"/>
            </a:pPr>
            <a:r>
              <a:rPr lang="en-IN" dirty="0"/>
              <a:t>Calm &amp; Neutral detected correctly</a:t>
            </a:r>
            <a:br>
              <a:rPr lang="en" dirty="0"/>
            </a:b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Char char="●"/>
            </a:pPr>
            <a:r>
              <a:rPr lang="en-US" dirty="0"/>
              <a:t>Stressed detection activates alert system</a:t>
            </a:r>
          </a:p>
          <a:p>
            <a:pPr marL="457200" lvl="0" indent="-317500">
              <a:lnSpc>
                <a:spcPct val="115000"/>
              </a:lnSpc>
              <a:spcAft>
                <a:spcPts val="1200"/>
              </a:spcAft>
              <a:buSzPts val="1400"/>
              <a:buChar char="●"/>
            </a:pPr>
            <a:r>
              <a:rPr lang="en-US" dirty="0"/>
              <a:t>Drowsy shows mild overlap (common in EEG)</a:t>
            </a:r>
            <a:br>
              <a:rPr lang="en-US" dirty="0"/>
            </a:br>
            <a:endParaRPr dirty="0"/>
          </a:p>
        </p:txBody>
      </p:sp>
      <p:sp>
        <p:nvSpPr>
          <p:cNvPr id="155" name="Google Shape;155;p26"/>
          <p:cNvSpPr txBox="1"/>
          <p:nvPr/>
        </p:nvSpPr>
        <p:spPr>
          <a:xfrm>
            <a:off x="4572000" y="1406700"/>
            <a:ext cx="38322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/>
              <a:t>Performance</a:t>
            </a:r>
            <a:br>
              <a:rPr lang="en" b="1"/>
            </a:b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Good performance for a complex 4-class EEG dataset</a:t>
            </a:r>
            <a:br>
              <a:rPr lang="en"/>
            </a:b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Char char="●"/>
            </a:pPr>
            <a:r>
              <a:rPr lang="en"/>
              <a:t>Shows model can differentiate seizure types effectively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471900" y="2163350"/>
            <a:ext cx="8222100" cy="24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AutoNum type="arabicPeriod"/>
            </a:pPr>
            <a:r>
              <a:rPr lang="en-IN" u="sng" dirty="0">
                <a:solidFill>
                  <a:schemeClr val="hlink"/>
                </a:solidFill>
              </a:rPr>
              <a:t>https://www.kaggle.com/datasets/birdy654/eeg-brainwave-dataset-feeling-emotions</a:t>
            </a:r>
          </a:p>
          <a:p>
            <a:pPr lvl="0">
              <a:buAutoNum type="arabicPeriod"/>
            </a:pPr>
            <a:r>
              <a:rPr lang="en-IN" dirty="0">
                <a:hlinkClick r:id="rId3"/>
              </a:rPr>
              <a:t>https://www.eecs.qmul.ac.uk/mmv/datasets/deap/</a:t>
            </a:r>
            <a:r>
              <a:rPr lang="en-IN" dirty="0"/>
              <a:t> 	</a:t>
            </a:r>
          </a:p>
          <a:p>
            <a:pPr lvl="0">
              <a:buAutoNum type="arabicPeriod"/>
            </a:pPr>
            <a:r>
              <a:rPr lang="en-IN" dirty="0">
                <a:hlinkClick r:id="rId4"/>
              </a:rPr>
              <a:t>https://www.mdpi.com/2306-5729/10/9/144</a:t>
            </a:r>
            <a:r>
              <a:rPr lang="en-IN" dirty="0"/>
              <a:t>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IN" u="sng" dirty="0">
                <a:solidFill>
                  <a:schemeClr val="hlink"/>
                </a:solidFill>
                <a:hlinkClick r:id="rId5"/>
              </a:rPr>
              <a:t>https://doi.org/10.3390/app12147251</a:t>
            </a:r>
            <a:r>
              <a:rPr lang="en-IN" dirty="0"/>
              <a:t> </a:t>
            </a:r>
          </a:p>
          <a:p>
            <a:pPr lvl="0">
              <a:buAutoNum type="arabicPeriod"/>
            </a:pPr>
            <a:r>
              <a:rPr lang="en-IN" dirty="0">
                <a:hlinkClick r:id="rId6"/>
              </a:rPr>
              <a:t>https://data.mendeley.com/datasets/58rydc6vwc/1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ting card with floral ornament and handwritten inscription Thank ...">
            <a:extLst>
              <a:ext uri="{FF2B5EF4-FFF2-40B4-BE49-F238E27FC236}">
                <a16:creationId xmlns:a16="http://schemas.microsoft.com/office/drawing/2014/main" id="{1D703DCF-BF8F-A480-9E21-DF0EA5FC9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63" y="294467"/>
            <a:ext cx="8004874" cy="433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92239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CDA9A8-76D2-4043-971C-FB51399E5015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1316</Words>
  <Application>Microsoft Office PowerPoint</Application>
  <PresentationFormat>On-screen Show (16:9)</PresentationFormat>
  <Paragraphs>217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Times New Roman</vt:lpstr>
      <vt:lpstr>Roboto</vt:lpstr>
      <vt:lpstr>Arimo</vt:lpstr>
      <vt:lpstr>Material</vt:lpstr>
      <vt:lpstr>Neuro-AI: Hybrid Model for Cognitive Enhancements 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 </vt:lpstr>
      <vt:lpstr>Literature Survey </vt:lpstr>
      <vt:lpstr>Literature Survey</vt:lpstr>
      <vt:lpstr>Literature Survey </vt:lpstr>
      <vt:lpstr>Research gaps</vt:lpstr>
      <vt:lpstr>Materials and Methodology </vt:lpstr>
      <vt:lpstr>Materials and Methodology </vt:lpstr>
      <vt:lpstr>Significance </vt:lpstr>
      <vt:lpstr>Work progress </vt:lpstr>
      <vt:lpstr>PowerPoint Presentation</vt:lpstr>
      <vt:lpstr>Results</vt:lpstr>
      <vt:lpstr>Results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Sathwik Kokkonda</dc:creator>
  <cp:lastModifiedBy>Sathwik Kokkonda</cp:lastModifiedBy>
  <cp:revision>7</cp:revision>
  <dcterms:modified xsi:type="dcterms:W3CDTF">2026-03-11T16:33:32Z</dcterms:modified>
</cp:coreProperties>
</file>